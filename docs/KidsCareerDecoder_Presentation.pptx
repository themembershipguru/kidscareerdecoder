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jpg"/><Relationship Id="rId3" Type="http://schemas.openxmlformats.org/officeDocument/2006/relationships/image" Target="../media/image10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KidsCareerDecoder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Web-Based Child Aptitude Assessment</a:t>
            </a:r>
          </a:p>
          <a:p>
            <a:r>
              <a:t>and Career Insight Platform</a:t>
            </a:r>
          </a:p>
          <a:p/>
          <a:p>
            <a:r>
              <a:t>Neel Kapoor | BCA Final Year, Semester VI</a:t>
            </a:r>
          </a:p>
          <a:p>
            <a:r>
              <a:t>Chandigarh University</a:t>
            </a:r>
          </a:p>
          <a:p>
            <a:r>
              <a:t>Guide: Rohit Jha</a:t>
            </a:r>
          </a:p>
          <a:p>
            <a:r>
              <a:t>Date: 22 May 2026</a:t>
            </a:r>
          </a:p>
        </p:txBody>
      </p:sp>
      <p:pic>
        <p:nvPicPr>
          <p:cNvPr id="4" name="Picture 3" descr="cu-logo-on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2926080" cy="6516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Parents lack structured, child-friendly insight into strengths</a:t>
            </a:r>
          </a:p>
          <a:p>
            <a:pPr>
              <a:defRPr sz="1800"/>
            </a:pPr>
            <a:r>
              <a:t>Generic quizzes are not traceable or visible to guardians</a:t>
            </a:r>
          </a:p>
          <a:p>
            <a:pPr>
              <a:defRPr sz="1800"/>
            </a:pPr>
            <a:r>
              <a:t>Need: secure family accounts, quizzes, AI careers with regional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KidsCareerDecoder | 22 May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Parent / child / admin roles with JWT security</a:t>
            </a:r>
          </a:p>
          <a:p>
            <a:pPr>
              <a:defRPr sz="1800"/>
            </a:pPr>
            <a:r>
              <a:t>Published quizzes and adaptive session flow</a:t>
            </a:r>
          </a:p>
          <a:p>
            <a:pPr>
              <a:defRPr sz="1800"/>
            </a:pPr>
            <a:r>
              <a:t>Six aptitude stripes + AI / fallback careers</a:t>
            </a:r>
          </a:p>
          <a:p>
            <a:pPr>
              <a:defRPr sz="1800"/>
            </a:pPr>
            <a:r>
              <a:t>Parent dashboards, child results, admin console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KidsCareerDecoder | 22 May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&amp;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Holland RIASEC vs six transparent aptitude stripes</a:t>
            </a:r>
          </a:p>
          <a:p>
            <a:pPr>
              <a:defRPr sz="1800"/>
            </a:pPr>
            <a:r>
              <a:t>LMS quizzes lack parent analytics + LLM careers</a:t>
            </a:r>
          </a:p>
          <a:p>
            <a:pPr>
              <a:defRPr sz="1800"/>
            </a:pPr>
            <a:r>
              <a:t>Gap closed: traceable scoring + admin + JSON-bound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KidsCareerDecoder | 22 May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(DFD Level 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3931920" cy="0"/>
          </a:xfrm>
        </p:spPr>
        <p:txBody>
          <a:bodyPr/>
          <a:lstStyle/>
          <a:p>
            <a:pPr>
              <a:defRPr sz="1800"/>
            </a:pPr>
            <a:r>
              <a:t>Parent: login, reports</a:t>
            </a:r>
          </a:p>
          <a:p>
            <a:pPr>
              <a:defRPr sz="1800"/>
            </a:pPr>
            <a:r>
              <a:t>Child: quiz</a:t>
            </a:r>
          </a:p>
          <a:p>
            <a:pPr>
              <a:defRPr sz="1800"/>
            </a:pPr>
            <a:r>
              <a:t>Admin: manage</a:t>
            </a:r>
          </a:p>
          <a:p>
            <a:pPr>
              <a:defRPr sz="1800"/>
            </a:pPr>
            <a:r>
              <a:t>PostgreSQL (SQL) + OpenAI/Claude (HTTPS)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KidsCareerDecoder | 22 May 2026</a:t>
            </a:r>
          </a:p>
        </p:txBody>
      </p:sp>
      <p:pic>
        <p:nvPicPr>
          <p:cNvPr id="5" name="Picture 4" descr="fig_4_01_dfd_level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234440"/>
            <a:ext cx="4114800" cy="56633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 (ER Diagram)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3931920" cy="0"/>
          </a:xfrm>
        </p:spPr>
        <p:txBody>
          <a:bodyPr/>
          <a:lstStyle/>
          <a:p>
            <a:pPr>
              <a:defRPr sz="1800"/>
            </a:pPr>
            <a:r>
              <a:t>users, quizzes, questions, question_options</a:t>
            </a:r>
          </a:p>
          <a:p>
            <a:pPr>
              <a:defRPr sz="1800"/>
            </a:pPr>
            <a:r>
              <a:t>quiz_sessions (scores_json, metadata_json)</a:t>
            </a:r>
          </a:p>
          <a:p>
            <a:pPr>
              <a:defRPr sz="1800"/>
            </a:pPr>
            <a:r>
              <a:t>quiz_answers, careers, app_settings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KidsCareerDecoder | 22 May 2026</a:t>
            </a:r>
          </a:p>
        </p:txBody>
      </p:sp>
      <p:pic>
        <p:nvPicPr>
          <p:cNvPr id="5" name="Picture 4" descr="fig_4_04_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234440"/>
            <a:ext cx="4114800" cy="56633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Design — DFD Level 1 &amp; Use Cases</a:t>
            </a:r>
          </a:p>
        </p:txBody>
      </p:sp>
      <p:pic>
        <p:nvPicPr>
          <p:cNvPr id="4" name="Picture 3" descr="fig_4_02_dfd_leve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3931920" cy="5411675"/>
          </a:xfrm>
          <a:prstGeom prst="rect">
            <a:avLst/>
          </a:prstGeom>
        </p:spPr>
      </p:pic>
      <p:pic>
        <p:nvPicPr>
          <p:cNvPr id="5" name="Picture 4" descr="fig_4_03_use_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14400"/>
            <a:ext cx="3931920" cy="54116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943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Processes 1.0–6.0 and actor use cases (hand-drawn)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KidsCareerDecoder | 22 May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Sequence: Complete Session +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3931920" cy="0"/>
          </a:xfrm>
        </p:spPr>
        <p:txBody>
          <a:bodyPr/>
          <a:lstStyle/>
          <a:p>
            <a:pPr>
              <a:defRPr sz="1800"/>
            </a:pPr>
            <a:r>
              <a:t>POST /session/:id/complete</a:t>
            </a:r>
          </a:p>
          <a:p>
            <a:pPr>
              <a:defRPr sz="1800"/>
            </a:pPr>
            <a:r>
              <a:t>Tally + normalize scores → AI profile</a:t>
            </a:r>
          </a:p>
          <a:p>
            <a:pPr>
              <a:defRPr sz="1800"/>
            </a:pPr>
            <a:r>
              <a:t>UPDATE quiz_sessions → 200 OK + careers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KidsCareerDecoder | 22 May 2026</a:t>
            </a:r>
          </a:p>
        </p:txBody>
      </p:sp>
      <p:pic>
        <p:nvPicPr>
          <p:cNvPr id="5" name="Picture 4" descr="fig_4_05_sequence_comple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234440"/>
            <a:ext cx="4114800" cy="566338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bcrypt + JWT authentication</a:t>
            </a:r>
          </a:p>
          <a:p>
            <a:pPr>
              <a:defRPr sz="1800"/>
            </a:pPr>
            <a:r>
              <a:t>sessionController: preprocess → getAptitudeProfile</a:t>
            </a:r>
          </a:p>
          <a:p>
            <a:pPr>
              <a:defRPr sz="1800"/>
            </a:pPr>
            <a:r>
              <a:t>CareerResultCard: child vs parent variant</a:t>
            </a:r>
          </a:p>
          <a:p>
            <a:pPr>
              <a:defRPr sz="1800"/>
            </a:pPr>
            <a:r>
              <a:t>Admin runtime AI provider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KidsCareerDecoder | 22 May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Parent Interface</a:t>
            </a:r>
          </a:p>
        </p:txBody>
      </p:sp>
      <p:pic>
        <p:nvPicPr>
          <p:cNvPr id="4" name="Picture 3" descr="fig_5_05_parent_add_ch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3931920" cy="2104192"/>
          </a:xfrm>
          <a:prstGeom prst="rect">
            <a:avLst/>
          </a:prstGeom>
        </p:spPr>
      </p:pic>
      <p:pic>
        <p:nvPicPr>
          <p:cNvPr id="5" name="Picture 4" descr="fig_5_08_parent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14400"/>
            <a:ext cx="3931920" cy="38781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943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Add child and dashboard (Fig 5.1, 5.2)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KidsCareerDecoder | 22 May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Child Interface</a:t>
            </a:r>
          </a:p>
        </p:txBody>
      </p:sp>
      <p:pic>
        <p:nvPicPr>
          <p:cNvPr id="4" name="Picture 3" descr="fig_5_07_child_quiz_sel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3931920" cy="4352742"/>
          </a:xfrm>
          <a:prstGeom prst="rect">
            <a:avLst/>
          </a:prstGeom>
        </p:spPr>
      </p:pic>
      <p:pic>
        <p:nvPicPr>
          <p:cNvPr id="5" name="Picture 4" descr="fig_7_02_child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14400"/>
            <a:ext cx="3931920" cy="56076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943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Quiz selection and AI results (Fig 5.3, 7.2)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KidsCareerDecoder | 22 May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Admin Interface</a:t>
            </a:r>
          </a:p>
        </p:txBody>
      </p:sp>
      <p:pic>
        <p:nvPicPr>
          <p:cNvPr id="4" name="Picture 3" descr="fig_5_10_admin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3931920" cy="8696082"/>
          </a:xfrm>
          <a:prstGeom prst="rect">
            <a:avLst/>
          </a:prstGeom>
        </p:spPr>
      </p:pic>
      <p:pic>
        <p:nvPicPr>
          <p:cNvPr id="5" name="Picture 4" descr="fig_5_06_admin_insigh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14400"/>
            <a:ext cx="3931920" cy="46708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943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Overview and insights (Fig 5.5–5.6)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KidsCareerDecoder | 22 May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&amp; 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Tally answers → six percentage scores</a:t>
            </a:r>
          </a:p>
          <a:p>
            <a:pPr>
              <a:defRPr sz="1800"/>
            </a:pPr>
            <a:r>
              <a:t>Age + country → Claude or OpenAI JSON careers</a:t>
            </a:r>
          </a:p>
          <a:p>
            <a:pPr>
              <a:defRPr sz="1800"/>
            </a:pPr>
            <a:r>
              <a:t>Python notebook mirrors server math</a:t>
            </a:r>
          </a:p>
          <a:p>
            <a:pPr>
              <a:defRPr sz="1800"/>
            </a:pPr>
            <a:r>
              <a:t>fallback_only when API unavailable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KidsCareerDecoder | 22 May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27 documented test cases — Pass</a:t>
            </a:r>
          </a:p>
          <a:p>
            <a:pPr>
              <a:defRPr sz="1800"/>
            </a:pPr>
            <a:r>
              <a:t>Auth, session, AI, admin, security scenarios</a:t>
            </a:r>
          </a:p>
          <a:p>
            <a:pPr>
              <a:defRPr sz="1800"/>
            </a:pPr>
            <a:r>
              <a:t>CORS, JWT 401/403, reset token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KidsCareerDecoder | 22 May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Results</a:t>
            </a:r>
          </a:p>
        </p:txBody>
      </p:sp>
      <p:pic>
        <p:nvPicPr>
          <p:cNvPr id="4" name="Picture 3" descr="fig_7_01_parent_child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3931920" cy="4928135"/>
          </a:xfrm>
          <a:prstGeom prst="rect">
            <a:avLst/>
          </a:prstGeom>
        </p:spPr>
      </p:pic>
      <p:pic>
        <p:nvPicPr>
          <p:cNvPr id="5" name="Picture 4" descr="fig_7_02_child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14400"/>
            <a:ext cx="3931920" cy="56076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943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Parent report and child Logical Explorer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KidsCareerDecoder | 22 May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Mobile app and HttpOnly cookie sessions</a:t>
            </a:r>
          </a:p>
          <a:p>
            <a:pPr>
              <a:defRPr sz="1800"/>
            </a:pPr>
            <a:r>
              <a:t>Automated CI tests and Hindi UI</a:t>
            </a:r>
          </a:p>
          <a:p>
            <a:pPr>
              <a:defRPr sz="1800"/>
            </a:pPr>
            <a:r>
              <a:t>IRT-based adaptive difficulty</a:t>
            </a:r>
          </a:p>
          <a:p>
            <a:pPr>
              <a:defRPr sz="1800"/>
            </a:pPr>
            <a:r>
              <a:t>Cloud deployment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KidsCareerDecoder | 22 May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  <a:p/>
          <a:p>
            <a:r>
              <a:t>Neel Kapoor | O23BCA110261@cuchd.in</a:t>
            </a:r>
          </a:p>
          <a:p>
            <a:r>
              <a:t>Guide: Rohit Jha</a:t>
            </a:r>
          </a:p>
          <a:p>
            <a:r>
              <a:t>Date: 22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